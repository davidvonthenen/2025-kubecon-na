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Secular One"/>
      <p:regular r:id="rId16"/>
    </p:embeddedFont>
    <p:embeddedFont>
      <p:font typeface="Albert Sans ExtraBold"/>
      <p:bold r:id="rId17"/>
      <p:boldItalic r:id="rId18"/>
    </p:embeddedFont>
    <p:embeddedFont>
      <p:font typeface="Albert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p8o3Chz2VsFTl+upZDLjYcft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bold.fntdata"/><Relationship Id="rId11" Type="http://schemas.openxmlformats.org/officeDocument/2006/relationships/slide" Target="slides/slide6.xml"/><Relationship Id="rId22" Type="http://schemas.openxmlformats.org/officeDocument/2006/relationships/font" Target="fonts/AlbertSans-boldItalic.fntdata"/><Relationship Id="rId10" Type="http://schemas.openxmlformats.org/officeDocument/2006/relationships/slide" Target="slides/slide5.xml"/><Relationship Id="rId21" Type="http://schemas.openxmlformats.org/officeDocument/2006/relationships/font" Target="fonts/Albert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lbertSansExtraBold-bold.fntdata"/><Relationship Id="rId16" Type="http://schemas.openxmlformats.org/officeDocument/2006/relationships/font" Target="fonts/SecularOn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bertSans-regular.fntdata"/><Relationship Id="rId6" Type="http://schemas.openxmlformats.org/officeDocument/2006/relationships/slide" Target="slides/slide1.xml"/><Relationship Id="rId18" Type="http://schemas.openxmlformats.org/officeDocument/2006/relationships/font" Target="fonts/AlbertSans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4d1d1fb6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4d1d1fb6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4d1d1fb6c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94d1d1fb6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980b35a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f980b35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f980b35a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9f980b35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980b35ad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9f980b35a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215" y="1251446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215" y="2808198"/>
            <a:ext cx="7287960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rgbClr val="6ABD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9"/>
          <p:cNvSpPr txBox="1"/>
          <p:nvPr/>
        </p:nvSpPr>
        <p:spPr>
          <a:xfrm>
            <a:off x="311216" y="4539184"/>
            <a:ext cx="2473298" cy="545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#KubeCon #CloudNativeCon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15" y="0"/>
            <a:ext cx="2061434" cy="125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RIGINAL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94d1d1fb6c_0_6"/>
          <p:cNvSpPr txBox="1"/>
          <p:nvPr>
            <p:ph type="ctrTitle"/>
          </p:nvPr>
        </p:nvSpPr>
        <p:spPr>
          <a:xfrm>
            <a:off x="311215" y="1251446"/>
            <a:ext cx="8010300" cy="20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394d1d1fb6c_0_6"/>
          <p:cNvSpPr txBox="1"/>
          <p:nvPr>
            <p:ph idx="1" type="subTitle"/>
          </p:nvPr>
        </p:nvSpPr>
        <p:spPr>
          <a:xfrm>
            <a:off x="311215" y="2808198"/>
            <a:ext cx="7287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rgbClr val="6ABD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94d1d1fb6c_0_6"/>
          <p:cNvSpPr txBox="1"/>
          <p:nvPr/>
        </p:nvSpPr>
        <p:spPr>
          <a:xfrm>
            <a:off x="311216" y="4539184"/>
            <a:ext cx="247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#KubeCon #CloudNativeCon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g394d1d1fb6c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15" y="0"/>
            <a:ext cx="2061432" cy="12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6530671" y="466620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124" y="4145860"/>
            <a:ext cx="1357346" cy="827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ORIGINAL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4d1d1fb6c_0_19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g394d1d1fb6c_0_19"/>
          <p:cNvSpPr txBox="1"/>
          <p:nvPr>
            <p:ph idx="12" type="sldNum"/>
          </p:nvPr>
        </p:nvSpPr>
        <p:spPr>
          <a:xfrm>
            <a:off x="6530671" y="466620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g394d1d1fb6c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124" y="4145860"/>
            <a:ext cx="1357344" cy="82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7121879" y="46046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67" y="4462175"/>
            <a:ext cx="1126616" cy="68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2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7121879" y="46046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67" y="4462175"/>
            <a:ext cx="1126616" cy="68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7121879" y="46046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67" y="4462175"/>
            <a:ext cx="1126616" cy="68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/>
        </p:nvSpPr>
        <p:spPr>
          <a:xfrm>
            <a:off x="8430417" y="460462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67" y="4462175"/>
            <a:ext cx="1126616" cy="68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Log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301752"/>
            <a:ext cx="3252054" cy="1983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ORIGINAL">
  <p:cSld name="Logo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g394d1d1fb6c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301752"/>
            <a:ext cx="3252056" cy="1983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311700" y="109929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6530671" y="466620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118428"/>
            <a:ext cx="1357346" cy="827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ORIGINAL">
  <p:cSld name="SECTION_HEADER 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4d1d1fb6c_0_31"/>
          <p:cNvSpPr txBox="1"/>
          <p:nvPr>
            <p:ph type="title"/>
          </p:nvPr>
        </p:nvSpPr>
        <p:spPr>
          <a:xfrm>
            <a:off x="311700" y="109929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94d1d1fb6c_0_31"/>
          <p:cNvSpPr txBox="1"/>
          <p:nvPr>
            <p:ph idx="12" type="sldNum"/>
          </p:nvPr>
        </p:nvSpPr>
        <p:spPr>
          <a:xfrm>
            <a:off x="6530671" y="466620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g394d1d1fb6c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4118428"/>
            <a:ext cx="1357344" cy="82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LAIN">
  <p:cSld name="SECTION_HEADER 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4d1d1fb6c_0_39"/>
          <p:cNvSpPr txBox="1"/>
          <p:nvPr>
            <p:ph type="title"/>
          </p:nvPr>
        </p:nvSpPr>
        <p:spPr>
          <a:xfrm>
            <a:off x="311700" y="109929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g394d1d1fb6c_0_39"/>
          <p:cNvSpPr txBox="1"/>
          <p:nvPr>
            <p:ph idx="12" type="sldNum"/>
          </p:nvPr>
        </p:nvSpPr>
        <p:spPr>
          <a:xfrm>
            <a:off x="6530671" y="466620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2" name="Google Shape;6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5124" y="4145860"/>
            <a:ext cx="1357346" cy="827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2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302" y="91440"/>
            <a:ext cx="2437449" cy="148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 txBox="1"/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912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" type="subTitle"/>
          </p:nvPr>
        </p:nvSpPr>
        <p:spPr>
          <a:xfrm>
            <a:off x="398302" y="3099955"/>
            <a:ext cx="7287960" cy="670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rgbClr val="6ABD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inktr.ee/davidvonthenen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linkedin.com/in/yash-sharma-4276b61b5/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linkedin.com/in/yash-sharma-4276b61b5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hyperlink" Target="https://linktr.ee/davidvonthenen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inktr.ee/davidvonthenen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linkedin.com/in/yash-sharma-4276b61b5/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ctrTitle"/>
          </p:nvPr>
        </p:nvSpPr>
        <p:spPr>
          <a:xfrm>
            <a:off x="311215" y="1128708"/>
            <a:ext cx="8010300" cy="20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"/>
              <a:t>Your Kubernetes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"/>
              <a:t>Playbook at Your Fingertips</a:t>
            </a:r>
            <a:endParaRPr b="1"/>
          </a:p>
        </p:txBody>
      </p:sp>
      <p:sp>
        <p:nvSpPr>
          <p:cNvPr id="72" name="Google Shape;72;p1"/>
          <p:cNvSpPr txBox="1"/>
          <p:nvPr>
            <p:ph idx="1" type="subTitle"/>
          </p:nvPr>
        </p:nvSpPr>
        <p:spPr>
          <a:xfrm>
            <a:off x="311215" y="2685460"/>
            <a:ext cx="7287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">
                <a:solidFill>
                  <a:srgbClr val="912666"/>
                </a:solidFill>
              </a:rPr>
              <a:t>Advanced Troubleshooting With MCP, RAG, and K8sgpt</a:t>
            </a:r>
            <a:endParaRPr b="1">
              <a:solidFill>
                <a:srgbClr val="912666"/>
              </a:solidFill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2593825" y="3398725"/>
            <a:ext cx="22053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1"/>
              <a:buFont typeface="Arial"/>
              <a:buNone/>
            </a:pPr>
            <a:r>
              <a:rPr b="1" i="0" lang="en" sz="171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</a:t>
            </a:r>
            <a:r>
              <a:rPr b="1" i="0" lang="en" sz="1711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@davidvonthenen</a:t>
            </a:r>
            <a:endParaRPr b="1" i="0" sz="1711" u="none" cap="none" strike="noStrik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74" name="Google Shape;74;p1"/>
          <p:cNvGrpSpPr/>
          <p:nvPr/>
        </p:nvGrpSpPr>
        <p:grpSpPr>
          <a:xfrm>
            <a:off x="2593832" y="3833003"/>
            <a:ext cx="1195256" cy="309398"/>
            <a:chOff x="6682507" y="932828"/>
            <a:chExt cx="1195256" cy="309398"/>
          </a:xfrm>
        </p:grpSpPr>
        <p:pic>
          <p:nvPicPr>
            <p:cNvPr id="75" name="Google Shape;75;p1" title="X_Logo_white.png"/>
            <p:cNvPicPr preferRelativeResize="0"/>
            <p:nvPr/>
          </p:nvPicPr>
          <p:blipFill rotWithShape="1">
            <a:blip r:embed="rId4">
              <a:alphaModFix/>
            </a:blip>
            <a:srcRect b="0" l="4995" r="5004" t="0"/>
            <a:stretch/>
          </p:blipFill>
          <p:spPr>
            <a:xfrm>
              <a:off x="7676774" y="975886"/>
              <a:ext cx="200988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 title="linkedin_white.png"/>
            <p:cNvPicPr preferRelativeResize="0"/>
            <p:nvPr/>
          </p:nvPicPr>
          <p:blipFill rotWithShape="1">
            <a:blip r:embed="rId5">
              <a:alphaModFix/>
            </a:blip>
            <a:srcRect b="0" l="4995" r="5004" t="0"/>
            <a:stretch/>
          </p:blipFill>
          <p:spPr>
            <a:xfrm>
              <a:off x="6682507" y="975886"/>
              <a:ext cx="200987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" title="Bluesky_Final_FilledIn.png"/>
            <p:cNvPicPr preferRelativeResize="0"/>
            <p:nvPr/>
          </p:nvPicPr>
          <p:blipFill rotWithShape="1">
            <a:blip r:embed="rId6">
              <a:alphaModFix/>
            </a:blip>
            <a:srcRect b="0" l="4995" r="5004" t="0"/>
            <a:stretch/>
          </p:blipFill>
          <p:spPr>
            <a:xfrm>
              <a:off x="7380659" y="932828"/>
              <a:ext cx="278472" cy="30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" title="github_white.png"/>
            <p:cNvPicPr preferRelativeResize="0"/>
            <p:nvPr/>
          </p:nvPicPr>
          <p:blipFill rotWithShape="1">
            <a:blip r:embed="rId7">
              <a:alphaModFix/>
            </a:blip>
            <a:srcRect b="0" l="4995" r="5004" t="0"/>
            <a:stretch/>
          </p:blipFill>
          <p:spPr>
            <a:xfrm>
              <a:off x="6933829" y="975910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" title="youtube_white.png"/>
            <p:cNvPicPr preferRelativeResize="0"/>
            <p:nvPr/>
          </p:nvPicPr>
          <p:blipFill rotWithShape="1">
            <a:blip r:embed="rId8">
              <a:alphaModFix/>
            </a:blip>
            <a:srcRect b="0" l="4995" r="5004" t="0"/>
            <a:stretch/>
          </p:blipFill>
          <p:spPr>
            <a:xfrm>
              <a:off x="7179643" y="975887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" name="Google Shape;80;p1"/>
          <p:cNvSpPr txBox="1"/>
          <p:nvPr/>
        </p:nvSpPr>
        <p:spPr>
          <a:xfrm>
            <a:off x="791800" y="3398725"/>
            <a:ext cx="1711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1"/>
              <a:buFont typeface="Arial"/>
              <a:buNone/>
            </a:pPr>
            <a:r>
              <a:rPr b="1" i="0" lang="en" sz="171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</a:t>
            </a:r>
            <a:r>
              <a:rPr b="1" lang="en" sz="1711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9"/>
              </a:rPr>
              <a:t>@yashsharma_f</a:t>
            </a:r>
            <a:endParaRPr b="1" i="0" sz="1711" u="none" cap="none" strike="noStrik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81" name="Google Shape;81;p1"/>
          <p:cNvGrpSpPr/>
          <p:nvPr/>
        </p:nvGrpSpPr>
        <p:grpSpPr>
          <a:xfrm>
            <a:off x="791807" y="3833003"/>
            <a:ext cx="1195256" cy="309398"/>
            <a:chOff x="6682507" y="932828"/>
            <a:chExt cx="1195256" cy="309398"/>
          </a:xfrm>
        </p:grpSpPr>
        <p:pic>
          <p:nvPicPr>
            <p:cNvPr id="82" name="Google Shape;82;p1" title="X_Logo_white.png"/>
            <p:cNvPicPr preferRelativeResize="0"/>
            <p:nvPr/>
          </p:nvPicPr>
          <p:blipFill rotWithShape="1">
            <a:blip r:embed="rId4">
              <a:alphaModFix/>
            </a:blip>
            <a:srcRect b="0" l="4995" r="5004" t="0"/>
            <a:stretch/>
          </p:blipFill>
          <p:spPr>
            <a:xfrm>
              <a:off x="7676774" y="975886"/>
              <a:ext cx="200988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" title="linkedin_white.png"/>
            <p:cNvPicPr preferRelativeResize="0"/>
            <p:nvPr/>
          </p:nvPicPr>
          <p:blipFill rotWithShape="1">
            <a:blip r:embed="rId5">
              <a:alphaModFix/>
            </a:blip>
            <a:srcRect b="0" l="4995" r="5004" t="0"/>
            <a:stretch/>
          </p:blipFill>
          <p:spPr>
            <a:xfrm>
              <a:off x="6682507" y="975886"/>
              <a:ext cx="200987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" title="Bluesky_Final_FilledIn.png"/>
            <p:cNvPicPr preferRelativeResize="0"/>
            <p:nvPr/>
          </p:nvPicPr>
          <p:blipFill rotWithShape="1">
            <a:blip r:embed="rId6">
              <a:alphaModFix/>
            </a:blip>
            <a:srcRect b="0" l="4995" r="5004" t="0"/>
            <a:stretch/>
          </p:blipFill>
          <p:spPr>
            <a:xfrm>
              <a:off x="7380659" y="932828"/>
              <a:ext cx="278472" cy="30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" title="github_white.png"/>
            <p:cNvPicPr preferRelativeResize="0"/>
            <p:nvPr/>
          </p:nvPicPr>
          <p:blipFill rotWithShape="1">
            <a:blip r:embed="rId7">
              <a:alphaModFix/>
            </a:blip>
            <a:srcRect b="0" l="4995" r="5004" t="0"/>
            <a:stretch/>
          </p:blipFill>
          <p:spPr>
            <a:xfrm>
              <a:off x="6933829" y="975910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 title="youtube_white.png"/>
            <p:cNvPicPr preferRelativeResize="0"/>
            <p:nvPr/>
          </p:nvPicPr>
          <p:blipFill rotWithShape="1">
            <a:blip r:embed="rId8">
              <a:alphaModFix/>
            </a:blip>
            <a:srcRect b="0" l="4995" r="5004" t="0"/>
            <a:stretch/>
          </p:blipFill>
          <p:spPr>
            <a:xfrm>
              <a:off x="7179643" y="975887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481238" y="2236619"/>
            <a:ext cx="30225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TODO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TODO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TODO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TODO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TODO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71120" lvl="0" marL="177800" rtl="0" algn="l">
              <a:spcBef>
                <a:spcPts val="311"/>
              </a:spcBef>
              <a:spcAft>
                <a:spcPts val="311"/>
              </a:spcAft>
              <a:buNone/>
            </a:pPr>
            <a:r>
              <a:t/>
            </a:r>
            <a:endParaRPr sz="1438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461344" y="968775"/>
            <a:ext cx="2949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912666"/>
                </a:solidFill>
                <a:latin typeface="Secular One"/>
                <a:ea typeface="Secular One"/>
                <a:cs typeface="Secular One"/>
                <a:sym typeface="Secular One"/>
              </a:rPr>
              <a:t>Yash</a:t>
            </a:r>
            <a:endParaRPr b="1" sz="3500">
              <a:solidFill>
                <a:srgbClr val="912666"/>
              </a:solidFill>
              <a:latin typeface="Secular One"/>
              <a:ea typeface="Secular One"/>
              <a:cs typeface="Secular One"/>
              <a:sym typeface="Secula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912666"/>
                </a:solidFill>
                <a:latin typeface="Secular One"/>
                <a:ea typeface="Secular One"/>
                <a:cs typeface="Secular One"/>
                <a:sym typeface="Secular One"/>
              </a:rPr>
              <a:t>Sharma</a:t>
            </a:r>
            <a:endParaRPr b="1" sz="3500">
              <a:solidFill>
                <a:srgbClr val="912666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444259" y="3696105"/>
            <a:ext cx="35151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1"/>
              <a:buFont typeface="Arial"/>
              <a:buNone/>
            </a:pPr>
            <a:r>
              <a:rPr b="1" i="0" lang="en" sz="171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</a:t>
            </a:r>
            <a:r>
              <a:rPr b="1" lang="en" sz="1711" u="sng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@yashsharma_f</a:t>
            </a:r>
            <a:endParaRPr b="1" i="0" sz="1711" u="none" cap="none" strike="noStrike">
              <a:solidFill>
                <a:srgbClr val="FF99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1436980" y="3752272"/>
            <a:ext cx="1195256" cy="309398"/>
            <a:chOff x="6682507" y="932828"/>
            <a:chExt cx="1195256" cy="309398"/>
          </a:xfrm>
        </p:grpSpPr>
        <p:pic>
          <p:nvPicPr>
            <p:cNvPr id="95" name="Google Shape;95;p2" title="X_Logo_white.png"/>
            <p:cNvPicPr preferRelativeResize="0"/>
            <p:nvPr/>
          </p:nvPicPr>
          <p:blipFill rotWithShape="1">
            <a:blip r:embed="rId4">
              <a:alphaModFix/>
            </a:blip>
            <a:srcRect b="0" l="4995" r="5004" t="0"/>
            <a:stretch/>
          </p:blipFill>
          <p:spPr>
            <a:xfrm>
              <a:off x="7676774" y="975886"/>
              <a:ext cx="200988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2" title="linkedin_white.png"/>
            <p:cNvPicPr preferRelativeResize="0"/>
            <p:nvPr/>
          </p:nvPicPr>
          <p:blipFill rotWithShape="1">
            <a:blip r:embed="rId5">
              <a:alphaModFix/>
            </a:blip>
            <a:srcRect b="0" l="4995" r="5004" t="0"/>
            <a:stretch/>
          </p:blipFill>
          <p:spPr>
            <a:xfrm>
              <a:off x="6682507" y="975886"/>
              <a:ext cx="200987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2" title="Bluesky_Final_FilledIn.png"/>
            <p:cNvPicPr preferRelativeResize="0"/>
            <p:nvPr/>
          </p:nvPicPr>
          <p:blipFill rotWithShape="1">
            <a:blip r:embed="rId6">
              <a:alphaModFix/>
            </a:blip>
            <a:srcRect b="0" l="4995" r="5004" t="0"/>
            <a:stretch/>
          </p:blipFill>
          <p:spPr>
            <a:xfrm>
              <a:off x="7380659" y="932828"/>
              <a:ext cx="278472" cy="30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2" title="github_white.png"/>
            <p:cNvPicPr preferRelativeResize="0"/>
            <p:nvPr/>
          </p:nvPicPr>
          <p:blipFill rotWithShape="1">
            <a:blip r:embed="rId7">
              <a:alphaModFix/>
            </a:blip>
            <a:srcRect b="0" l="4995" r="5004" t="0"/>
            <a:stretch/>
          </p:blipFill>
          <p:spPr>
            <a:xfrm>
              <a:off x="6933829" y="975910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2" title="youtube_white.png"/>
            <p:cNvPicPr preferRelativeResize="0"/>
            <p:nvPr/>
          </p:nvPicPr>
          <p:blipFill rotWithShape="1">
            <a:blip r:embed="rId8">
              <a:alphaModFix/>
            </a:blip>
            <a:srcRect b="0" l="4995" r="5004" t="0"/>
            <a:stretch/>
          </p:blipFill>
          <p:spPr>
            <a:xfrm>
              <a:off x="7179643" y="975887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4d1d1fb6c_0_53"/>
          <p:cNvSpPr txBox="1"/>
          <p:nvPr/>
        </p:nvSpPr>
        <p:spPr>
          <a:xfrm>
            <a:off x="1481238" y="2236619"/>
            <a:ext cx="30225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4836" lvl="0" marL="177800" rtl="0" algn="l"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Are you Human or an AI?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I want 5 Kubernetes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Virtual Machines are Real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Cloudy, cloudy, cloudy… 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174836" lvl="0" marL="177800" rtl="0" algn="l">
              <a:spcBef>
                <a:spcPts val="311"/>
              </a:spcBef>
              <a:spcAft>
                <a:spcPts val="0"/>
              </a:spcAft>
              <a:buClr>
                <a:srgbClr val="912666"/>
              </a:buClr>
              <a:buSzPts val="1633"/>
              <a:buFont typeface="Albert Sans ExtraBold"/>
              <a:buChar char="●"/>
            </a:pPr>
            <a:r>
              <a:rPr lang="en" sz="1633">
                <a:solidFill>
                  <a:srgbClr val="912666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There is storage for that!</a:t>
            </a:r>
            <a:endParaRPr sz="1633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indent="-71120" lvl="0" marL="177800" rtl="0" algn="l">
              <a:spcBef>
                <a:spcPts val="311"/>
              </a:spcBef>
              <a:spcAft>
                <a:spcPts val="311"/>
              </a:spcAft>
              <a:buNone/>
            </a:pPr>
            <a:r>
              <a:t/>
            </a:r>
            <a:endParaRPr sz="1438">
              <a:solidFill>
                <a:srgbClr val="912666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pic>
        <p:nvPicPr>
          <p:cNvPr id="105" name="Google Shape;105;g394d1d1fb6c_0_53"/>
          <p:cNvPicPr preferRelativeResize="0"/>
          <p:nvPr/>
        </p:nvPicPr>
        <p:blipFill rotWithShape="1">
          <a:blip r:embed="rId3">
            <a:alphaModFix/>
          </a:blip>
          <a:srcRect b="0" l="0" r="9222" t="0"/>
          <a:stretch/>
        </p:blipFill>
        <p:spPr>
          <a:xfrm>
            <a:off x="4821869" y="968775"/>
            <a:ext cx="2860800" cy="28608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74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288925" rotWithShape="0" algn="bl" dir="5400000" dist="66675">
              <a:srgbClr val="000000">
                <a:alpha val="49800"/>
              </a:srgbClr>
            </a:outerShdw>
          </a:effectLst>
        </p:spPr>
      </p:pic>
      <p:sp>
        <p:nvSpPr>
          <p:cNvPr id="106" name="Google Shape;106;g394d1d1fb6c_0_53"/>
          <p:cNvSpPr txBox="1"/>
          <p:nvPr/>
        </p:nvSpPr>
        <p:spPr>
          <a:xfrm>
            <a:off x="1461344" y="968775"/>
            <a:ext cx="2949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912666"/>
                </a:solidFill>
                <a:latin typeface="Secular One"/>
                <a:ea typeface="Secular One"/>
                <a:cs typeface="Secular One"/>
                <a:sym typeface="Secular One"/>
              </a:rPr>
              <a:t>David</a:t>
            </a:r>
            <a:endParaRPr b="1" sz="3500">
              <a:solidFill>
                <a:srgbClr val="912666"/>
              </a:solidFill>
              <a:latin typeface="Secular One"/>
              <a:ea typeface="Secular One"/>
              <a:cs typeface="Secular One"/>
              <a:sym typeface="Secular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912666"/>
                </a:solidFill>
                <a:latin typeface="Secular One"/>
                <a:ea typeface="Secular One"/>
                <a:cs typeface="Secular One"/>
                <a:sym typeface="Secular One"/>
              </a:rPr>
              <a:t>vonThenen</a:t>
            </a:r>
            <a:endParaRPr b="1" sz="3500">
              <a:solidFill>
                <a:srgbClr val="912666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07" name="Google Shape;107;g394d1d1fb6c_0_53"/>
          <p:cNvSpPr txBox="1"/>
          <p:nvPr/>
        </p:nvSpPr>
        <p:spPr>
          <a:xfrm>
            <a:off x="1444259" y="3696105"/>
            <a:ext cx="35151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1"/>
              <a:buFont typeface="Arial"/>
              <a:buNone/>
            </a:pPr>
            <a:r>
              <a:rPr b="1" i="0" lang="en" sz="171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</a:t>
            </a:r>
            <a:r>
              <a:rPr b="1" i="0" lang="en" sz="1711" u="sng" cap="none" strike="noStrike">
                <a:solidFill>
                  <a:srgbClr val="F79646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@davidvonthenen</a:t>
            </a:r>
            <a:endParaRPr b="1" i="0" sz="1711" u="none" cap="none" strike="noStrik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08" name="Google Shape;108;g394d1d1fb6c_0_53"/>
          <p:cNvGrpSpPr/>
          <p:nvPr/>
        </p:nvGrpSpPr>
        <p:grpSpPr>
          <a:xfrm>
            <a:off x="1436980" y="3752272"/>
            <a:ext cx="1195256" cy="309398"/>
            <a:chOff x="6682507" y="932828"/>
            <a:chExt cx="1195256" cy="309398"/>
          </a:xfrm>
        </p:grpSpPr>
        <p:pic>
          <p:nvPicPr>
            <p:cNvPr id="109" name="Google Shape;109;g394d1d1fb6c_0_53" title="X_Logo_white.png"/>
            <p:cNvPicPr preferRelativeResize="0"/>
            <p:nvPr/>
          </p:nvPicPr>
          <p:blipFill rotWithShape="1">
            <a:blip r:embed="rId5">
              <a:alphaModFix/>
            </a:blip>
            <a:srcRect b="0" l="4995" r="5004" t="0"/>
            <a:stretch/>
          </p:blipFill>
          <p:spPr>
            <a:xfrm>
              <a:off x="7676774" y="975886"/>
              <a:ext cx="200988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g394d1d1fb6c_0_53" title="linkedin_white.png"/>
            <p:cNvPicPr preferRelativeResize="0"/>
            <p:nvPr/>
          </p:nvPicPr>
          <p:blipFill rotWithShape="1">
            <a:blip r:embed="rId6">
              <a:alphaModFix/>
            </a:blip>
            <a:srcRect b="0" l="4995" r="5004" t="0"/>
            <a:stretch/>
          </p:blipFill>
          <p:spPr>
            <a:xfrm>
              <a:off x="6682507" y="975886"/>
              <a:ext cx="200987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g394d1d1fb6c_0_53" title="Bluesky_Final_FilledIn.png"/>
            <p:cNvPicPr preferRelativeResize="0"/>
            <p:nvPr/>
          </p:nvPicPr>
          <p:blipFill rotWithShape="1">
            <a:blip r:embed="rId7">
              <a:alphaModFix/>
            </a:blip>
            <a:srcRect b="0" l="4995" r="5004" t="0"/>
            <a:stretch/>
          </p:blipFill>
          <p:spPr>
            <a:xfrm>
              <a:off x="7380659" y="932828"/>
              <a:ext cx="278472" cy="30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g394d1d1fb6c_0_53" title="github_white.png"/>
            <p:cNvPicPr preferRelativeResize="0"/>
            <p:nvPr/>
          </p:nvPicPr>
          <p:blipFill rotWithShape="1">
            <a:blip r:embed="rId8">
              <a:alphaModFix/>
            </a:blip>
            <a:srcRect b="0" l="4995" r="5004" t="0"/>
            <a:stretch/>
          </p:blipFill>
          <p:spPr>
            <a:xfrm>
              <a:off x="6933829" y="975910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g394d1d1fb6c_0_53" title="youtube_white.png"/>
            <p:cNvPicPr preferRelativeResize="0"/>
            <p:nvPr/>
          </p:nvPicPr>
          <p:blipFill rotWithShape="1">
            <a:blip r:embed="rId9">
              <a:alphaModFix/>
            </a:blip>
            <a:srcRect b="0" l="4995" r="5004" t="0"/>
            <a:stretch/>
          </p:blipFill>
          <p:spPr>
            <a:xfrm>
              <a:off x="7179643" y="975887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4d1d1fb6c_0_57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b="1" lang="en"/>
              <a:t>What Is k8sgpt?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912666"/>
                </a:solidFill>
              </a:rPr>
              <a:t>TODO: Yash</a:t>
            </a:r>
            <a:endParaRPr b="1">
              <a:solidFill>
                <a:srgbClr val="912666"/>
              </a:solidFill>
            </a:endParaRPr>
          </a:p>
        </p:txBody>
      </p:sp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800"/>
              <a:buChar char="●"/>
            </a:pPr>
            <a:r>
              <a:rPr b="1" lang="en">
                <a:solidFill>
                  <a:srgbClr val="912666"/>
                </a:solidFill>
              </a:rPr>
              <a:t>TODO</a:t>
            </a:r>
            <a:endParaRPr b="1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TODO</a:t>
            </a:r>
            <a:endParaRPr b="1" sz="1600">
              <a:solidFill>
                <a:srgbClr val="9126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f980b35ad_0_0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b="1" lang="en"/>
              <a:t>Your Customized AI Runbook</a:t>
            </a:r>
            <a:endParaRPr b="1"/>
          </a:p>
        </p:txBody>
      </p:sp>
      <p:sp>
        <p:nvSpPr>
          <p:cNvPr id="130" name="Google Shape;130;g39f980b35ad_0_0"/>
          <p:cNvSpPr txBox="1"/>
          <p:nvPr>
            <p:ph idx="4294967295" type="subTitle"/>
          </p:nvPr>
        </p:nvSpPr>
        <p:spPr>
          <a:xfrm>
            <a:off x="294020" y="2525498"/>
            <a:ext cx="7287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lang="en">
                <a:solidFill>
                  <a:srgbClr val="912666"/>
                </a:solidFill>
              </a:rPr>
              <a:t>Your </a:t>
            </a:r>
            <a:r>
              <a:rPr b="1" lang="en">
                <a:solidFill>
                  <a:srgbClr val="912666"/>
                </a:solidFill>
              </a:rPr>
              <a:t>Organization's</a:t>
            </a:r>
            <a:r>
              <a:rPr b="1" lang="en">
                <a:solidFill>
                  <a:srgbClr val="912666"/>
                </a:solidFill>
              </a:rPr>
              <a:t> Best Practices via RAG and k8sgpt</a:t>
            </a:r>
            <a:endParaRPr b="1">
              <a:solidFill>
                <a:srgbClr val="912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912666"/>
                </a:solidFill>
              </a:rPr>
              <a:t>What Is An Operational Runbook?</a:t>
            </a:r>
            <a:endParaRPr b="1">
              <a:solidFill>
                <a:srgbClr val="912666"/>
              </a:solidFill>
            </a:endParaRPr>
          </a:p>
        </p:txBody>
      </p:sp>
      <p:sp>
        <p:nvSpPr>
          <p:cNvPr id="136" name="Google Shape;136;p5"/>
          <p:cNvSpPr txBox="1"/>
          <p:nvPr>
            <p:ph idx="4294967295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800"/>
              <a:buChar char="●"/>
            </a:pPr>
            <a:r>
              <a:rPr b="1" lang="en">
                <a:solidFill>
                  <a:srgbClr val="912666"/>
                </a:solidFill>
              </a:rPr>
              <a:t>Standardized, Step-By-Step Guide For:</a:t>
            </a:r>
            <a:endParaRPr b="1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Performing IT Tasks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Troubleshooting Issues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Responding To Emergencies</a:t>
            </a:r>
            <a:endParaRPr b="1" sz="1600">
              <a:solidFill>
                <a:srgbClr val="912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800"/>
              <a:buChar char="●"/>
            </a:pPr>
            <a:r>
              <a:rPr b="1" lang="en">
                <a:solidFill>
                  <a:srgbClr val="912666"/>
                </a:solidFill>
              </a:rPr>
              <a:t>Typical Runbook Characteristics:</a:t>
            </a:r>
            <a:endParaRPr b="1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Designed to Support All Skill Levels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Reduce Complexity To Accomplishing A Task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Enable Consistency From Naming to Policy</a:t>
            </a:r>
            <a:endParaRPr b="1" sz="1600">
              <a:solidFill>
                <a:srgbClr val="912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800"/>
              <a:buChar char="●"/>
            </a:pPr>
            <a:r>
              <a:rPr b="1" lang="en">
                <a:solidFill>
                  <a:srgbClr val="912666"/>
                </a:solidFill>
              </a:rPr>
              <a:t>Example Runbooks Uses:</a:t>
            </a:r>
            <a:endParaRPr b="1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Routine Maintenance: Patching Servers, Renew Certs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Emergency Response: Failing Over, Disaster Recovery</a:t>
            </a:r>
            <a:endParaRPr b="1" sz="1600">
              <a:solidFill>
                <a:srgbClr val="912666"/>
              </a:solidFill>
            </a:endParaRPr>
          </a:p>
        </p:txBody>
      </p:sp>
      <p:pic>
        <p:nvPicPr>
          <p:cNvPr id="137" name="Google Shape;137;p5" title="runb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778" y="857513"/>
            <a:ext cx="2853225" cy="371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f980b35ad_0_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912666"/>
                </a:solidFill>
              </a:rPr>
              <a:t>From Runbook to Reasoning: Build AI Agents</a:t>
            </a:r>
            <a:endParaRPr b="1">
              <a:solidFill>
                <a:srgbClr val="912666"/>
              </a:solidFill>
            </a:endParaRPr>
          </a:p>
        </p:txBody>
      </p:sp>
      <p:sp>
        <p:nvSpPr>
          <p:cNvPr id="143" name="Google Shape;143;g39f980b35ad_0_14"/>
          <p:cNvSpPr txBox="1"/>
          <p:nvPr>
            <p:ph idx="4294967295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800"/>
              <a:buChar char="●"/>
            </a:pPr>
            <a:r>
              <a:rPr b="1" lang="en">
                <a:solidFill>
                  <a:srgbClr val="912666"/>
                </a:solidFill>
              </a:rPr>
              <a:t>Why Build An AI Runbook Agent?</a:t>
            </a:r>
            <a:endParaRPr b="1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Runbook Becomes A "Living" Document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Bridges Human Procedures To Machine Reasoning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Codifies Consistency, Expertise, Automation</a:t>
            </a:r>
            <a:endParaRPr b="1" sz="1600">
              <a:solidFill>
                <a:srgbClr val="912666"/>
              </a:solidFill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■"/>
            </a:pPr>
            <a:r>
              <a:rPr b="1" lang="en" sz="1600">
                <a:solidFill>
                  <a:srgbClr val="912666"/>
                </a:solidFill>
              </a:rPr>
              <a:t>Generate YAML or kubectl Commands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Agent "Thinks Like Your Organization"</a:t>
            </a:r>
            <a:endParaRPr b="1" sz="1600">
              <a:solidFill>
                <a:srgbClr val="91266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●"/>
            </a:pPr>
            <a:r>
              <a:rPr b="1" lang="en" sz="1600">
                <a:solidFill>
                  <a:srgbClr val="912666"/>
                </a:solidFill>
              </a:rPr>
              <a:t>Using k8sgpt and MCP, Perform Actions Where You Can: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Retrieve Status On Aspects Of Your Cluster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Perform "Set" Operations Based On Runbook</a:t>
            </a:r>
            <a:endParaRPr b="1" sz="1600">
              <a:solidFill>
                <a:srgbClr val="912666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12666"/>
              </a:buClr>
              <a:buSzPts val="1600"/>
              <a:buChar char="○"/>
            </a:pPr>
            <a:r>
              <a:rPr b="1" lang="en" sz="1600">
                <a:solidFill>
                  <a:srgbClr val="912666"/>
                </a:solidFill>
              </a:rPr>
              <a:t>Orchestrate Multi-Step Remediations With Your Agent</a:t>
            </a:r>
            <a:endParaRPr b="1" sz="1600">
              <a:solidFill>
                <a:srgbClr val="912666"/>
              </a:solidFill>
            </a:endParaRPr>
          </a:p>
        </p:txBody>
      </p:sp>
      <p:pic>
        <p:nvPicPr>
          <p:cNvPr id="144" name="Google Shape;144;g39f980b35ad_0_14" title="ai-agen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3325" y="853163"/>
            <a:ext cx="2610675" cy="391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f980b35ad_0_9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b="1" lang="en"/>
              <a:t>Demo: AI Agent Runbook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idx="4294967295" type="ctrTitle"/>
          </p:nvPr>
        </p:nvSpPr>
        <p:spPr>
          <a:xfrm>
            <a:off x="406150" y="2571750"/>
            <a:ext cx="36735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" sz="4800">
                <a:solidFill>
                  <a:srgbClr val="912666"/>
                </a:solidFill>
              </a:rPr>
              <a:t>Thank You!</a:t>
            </a:r>
            <a:endParaRPr b="1"/>
          </a:p>
        </p:txBody>
      </p:sp>
      <p:sp>
        <p:nvSpPr>
          <p:cNvPr id="155" name="Google Shape;155;p7"/>
          <p:cNvSpPr txBox="1"/>
          <p:nvPr/>
        </p:nvSpPr>
        <p:spPr>
          <a:xfrm>
            <a:off x="6682500" y="498550"/>
            <a:ext cx="22053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1"/>
              <a:buFont typeface="Arial"/>
              <a:buNone/>
            </a:pPr>
            <a:r>
              <a:rPr b="1" i="0" lang="en" sz="171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</a:t>
            </a:r>
            <a:r>
              <a:rPr b="1" i="0" lang="en" sz="1711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@davidvonthenen</a:t>
            </a:r>
            <a:endParaRPr b="1" i="0" sz="1711" u="none" cap="none" strike="noStrik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56" name="Google Shape;156;p7"/>
          <p:cNvGrpSpPr/>
          <p:nvPr/>
        </p:nvGrpSpPr>
        <p:grpSpPr>
          <a:xfrm>
            <a:off x="6682507" y="932828"/>
            <a:ext cx="1195256" cy="309398"/>
            <a:chOff x="6682507" y="932828"/>
            <a:chExt cx="1195256" cy="309398"/>
          </a:xfrm>
        </p:grpSpPr>
        <p:pic>
          <p:nvPicPr>
            <p:cNvPr id="157" name="Google Shape;157;p7" title="X_Logo_white.png"/>
            <p:cNvPicPr preferRelativeResize="0"/>
            <p:nvPr/>
          </p:nvPicPr>
          <p:blipFill rotWithShape="1">
            <a:blip r:embed="rId4">
              <a:alphaModFix/>
            </a:blip>
            <a:srcRect b="0" l="4995" r="5004" t="0"/>
            <a:stretch/>
          </p:blipFill>
          <p:spPr>
            <a:xfrm>
              <a:off x="7676774" y="975886"/>
              <a:ext cx="200988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7" title="linkedin_white.png"/>
            <p:cNvPicPr preferRelativeResize="0"/>
            <p:nvPr/>
          </p:nvPicPr>
          <p:blipFill rotWithShape="1">
            <a:blip r:embed="rId5">
              <a:alphaModFix/>
            </a:blip>
            <a:srcRect b="0" l="4995" r="5004" t="0"/>
            <a:stretch/>
          </p:blipFill>
          <p:spPr>
            <a:xfrm>
              <a:off x="6682507" y="975886"/>
              <a:ext cx="200987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7" title="Bluesky_Final_FilledIn.png"/>
            <p:cNvPicPr preferRelativeResize="0"/>
            <p:nvPr/>
          </p:nvPicPr>
          <p:blipFill rotWithShape="1">
            <a:blip r:embed="rId6">
              <a:alphaModFix/>
            </a:blip>
            <a:srcRect b="0" l="4995" r="5004" t="0"/>
            <a:stretch/>
          </p:blipFill>
          <p:spPr>
            <a:xfrm>
              <a:off x="7380659" y="932828"/>
              <a:ext cx="278472" cy="30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7" title="github_white.png"/>
            <p:cNvPicPr preferRelativeResize="0"/>
            <p:nvPr/>
          </p:nvPicPr>
          <p:blipFill rotWithShape="1">
            <a:blip r:embed="rId7">
              <a:alphaModFix/>
            </a:blip>
            <a:srcRect b="0" l="4995" r="5004" t="0"/>
            <a:stretch/>
          </p:blipFill>
          <p:spPr>
            <a:xfrm>
              <a:off x="6933829" y="975910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7" title="youtube_white.png"/>
            <p:cNvPicPr preferRelativeResize="0"/>
            <p:nvPr/>
          </p:nvPicPr>
          <p:blipFill rotWithShape="1">
            <a:blip r:embed="rId8">
              <a:alphaModFix/>
            </a:blip>
            <a:srcRect b="0" l="4995" r="5004" t="0"/>
            <a:stretch/>
          </p:blipFill>
          <p:spPr>
            <a:xfrm>
              <a:off x="7179643" y="975887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7"/>
          <p:cNvSpPr txBox="1"/>
          <p:nvPr/>
        </p:nvSpPr>
        <p:spPr>
          <a:xfrm>
            <a:off x="4880475" y="498550"/>
            <a:ext cx="1711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1"/>
              <a:buFont typeface="Arial"/>
              <a:buNone/>
            </a:pPr>
            <a:r>
              <a:rPr b="1" i="0" lang="en" sz="1711" u="none" cap="none" strike="noStrike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</a:t>
            </a:r>
            <a:r>
              <a:rPr b="1" lang="en" sz="1711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9"/>
              </a:rPr>
              <a:t>@yashsharma_f</a:t>
            </a:r>
            <a:endParaRPr b="1" i="0" sz="1711" u="none" cap="none" strike="noStrik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63" name="Google Shape;163;p7"/>
          <p:cNvGrpSpPr/>
          <p:nvPr/>
        </p:nvGrpSpPr>
        <p:grpSpPr>
          <a:xfrm>
            <a:off x="4880482" y="932828"/>
            <a:ext cx="1195256" cy="309398"/>
            <a:chOff x="6682507" y="932828"/>
            <a:chExt cx="1195256" cy="309398"/>
          </a:xfrm>
        </p:grpSpPr>
        <p:pic>
          <p:nvPicPr>
            <p:cNvPr id="164" name="Google Shape;164;p7" title="X_Logo_white.png"/>
            <p:cNvPicPr preferRelativeResize="0"/>
            <p:nvPr/>
          </p:nvPicPr>
          <p:blipFill rotWithShape="1">
            <a:blip r:embed="rId4">
              <a:alphaModFix/>
            </a:blip>
            <a:srcRect b="0" l="4995" r="5004" t="0"/>
            <a:stretch/>
          </p:blipFill>
          <p:spPr>
            <a:xfrm>
              <a:off x="7676774" y="975886"/>
              <a:ext cx="200988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7" title="linkedin_white.png"/>
            <p:cNvPicPr preferRelativeResize="0"/>
            <p:nvPr/>
          </p:nvPicPr>
          <p:blipFill rotWithShape="1">
            <a:blip r:embed="rId5">
              <a:alphaModFix/>
            </a:blip>
            <a:srcRect b="0" l="4995" r="5004" t="0"/>
            <a:stretch/>
          </p:blipFill>
          <p:spPr>
            <a:xfrm>
              <a:off x="6682507" y="975886"/>
              <a:ext cx="200987" cy="223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7" title="Bluesky_Final_FilledIn.png"/>
            <p:cNvPicPr preferRelativeResize="0"/>
            <p:nvPr/>
          </p:nvPicPr>
          <p:blipFill rotWithShape="1">
            <a:blip r:embed="rId6">
              <a:alphaModFix/>
            </a:blip>
            <a:srcRect b="0" l="4995" r="5004" t="0"/>
            <a:stretch/>
          </p:blipFill>
          <p:spPr>
            <a:xfrm>
              <a:off x="7380659" y="932828"/>
              <a:ext cx="278472" cy="309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7" title="github_white.png"/>
            <p:cNvPicPr preferRelativeResize="0"/>
            <p:nvPr/>
          </p:nvPicPr>
          <p:blipFill rotWithShape="1">
            <a:blip r:embed="rId7">
              <a:alphaModFix/>
            </a:blip>
            <a:srcRect b="0" l="4995" r="5004" t="0"/>
            <a:stretch/>
          </p:blipFill>
          <p:spPr>
            <a:xfrm>
              <a:off x="6933829" y="975910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7" title="youtube_white.png"/>
            <p:cNvPicPr preferRelativeResize="0"/>
            <p:nvPr/>
          </p:nvPicPr>
          <p:blipFill rotWithShape="1">
            <a:blip r:embed="rId8">
              <a:alphaModFix/>
            </a:blip>
            <a:srcRect b="0" l="4995" r="5004" t="0"/>
            <a:stretch/>
          </p:blipFill>
          <p:spPr>
            <a:xfrm>
              <a:off x="7179643" y="975887"/>
              <a:ext cx="200991" cy="2233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9" name="Google Shape;169;p7" title="qr-code-yash-david.png"/>
          <p:cNvPicPr preferRelativeResize="0"/>
          <p:nvPr/>
        </p:nvPicPr>
        <p:blipFill rotWithShape="1">
          <a:blip r:embed="rId10">
            <a:alphaModFix/>
          </a:blip>
          <a:srcRect b="387" l="0" r="0" t="377"/>
          <a:stretch/>
        </p:blipFill>
        <p:spPr>
          <a:xfrm>
            <a:off x="4150725" y="2449313"/>
            <a:ext cx="1388775" cy="13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SNA24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D1D4A"/>
      </a:accent1>
      <a:accent2>
        <a:srgbClr val="D43F5B"/>
      </a:accent2>
      <a:accent3>
        <a:srgbClr val="F6D110"/>
      </a:accent3>
      <a:accent4>
        <a:srgbClr val="333333"/>
      </a:accent4>
      <a:accent5>
        <a:srgbClr val="FFFFFF"/>
      </a:accent5>
      <a:accent6>
        <a:srgbClr val="999999"/>
      </a:accent6>
      <a:hlink>
        <a:srgbClr val="AD1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